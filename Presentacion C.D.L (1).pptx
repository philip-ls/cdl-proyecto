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5"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5" roundtripDataSignature="AMtx7mg8xlMdNwN/TBzxej3Kg6eOe+OyU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customschemas.google.com/relationships/presentationmetadata" Target="meta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MX"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 name="Google Shape;12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 name="Google Shape;14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MX"/>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Diapositiva de título">
  <p:cSld name="1_Diapositiva de título">
    <p:spTree>
      <p:nvGrpSpPr>
        <p:cNvPr id="1" name="Shape 15"/>
        <p:cNvGrpSpPr/>
        <p:nvPr/>
      </p:nvGrpSpPr>
      <p:grpSpPr>
        <a:xfrm>
          <a:off x="0" y="0"/>
          <a:ext cx="0" cy="0"/>
          <a:chOff x="0" y="0"/>
          <a:chExt cx="0" cy="0"/>
        </a:xfrm>
      </p:grpSpPr>
      <p:pic>
        <p:nvPicPr>
          <p:cNvPr id="16" name="Google Shape;16;p12" descr="Interfaz de usuario gráfica, Texto, Aplicación&#10;&#10;Descripción generada automáticamente"/>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Encabezado de sección">
  <p:cSld name="2_Encabezado de sección">
    <p:spTree>
      <p:nvGrpSpPr>
        <p:cNvPr id="1" name="Shape 17"/>
        <p:cNvGrpSpPr/>
        <p:nvPr/>
      </p:nvGrpSpPr>
      <p:grpSpPr>
        <a:xfrm>
          <a:off x="0" y="0"/>
          <a:ext cx="0" cy="0"/>
          <a:chOff x="0" y="0"/>
          <a:chExt cx="0" cy="0"/>
        </a:xfrm>
      </p:grpSpPr>
      <p:pic>
        <p:nvPicPr>
          <p:cNvPr id="18" name="Google Shape;18;p13" descr="Patrón de fondo&#10;&#10;Descripción generada automáticamente"/>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9" name="Google Shape;19;p13"/>
          <p:cNvPicPr preferRelativeResize="0"/>
          <p:nvPr/>
        </p:nvPicPr>
        <p:blipFill rotWithShape="1">
          <a:blip r:embed="rId3">
            <a:alphaModFix/>
          </a:blip>
          <a:srcRect/>
          <a:stretch/>
        </p:blipFill>
        <p:spPr>
          <a:xfrm>
            <a:off x="11054859" y="303050"/>
            <a:ext cx="855785" cy="83398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20"/>
        <p:cNvGrpSpPr/>
        <p:nvPr/>
      </p:nvGrpSpPr>
      <p:grpSpPr>
        <a:xfrm>
          <a:off x="0" y="0"/>
          <a:ext cx="0" cy="0"/>
          <a:chOff x="0" y="0"/>
          <a:chExt cx="0" cy="0"/>
        </a:xfrm>
      </p:grpSpPr>
      <p:sp>
        <p:nvSpPr>
          <p:cNvPr id="21" name="Google Shape;2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24"/>
        <p:cNvGrpSpPr/>
        <p:nvPr/>
      </p:nvGrpSpPr>
      <p:grpSpPr>
        <a:xfrm>
          <a:off x="0" y="0"/>
          <a:ext cx="0" cy="0"/>
          <a:chOff x="0" y="0"/>
          <a:chExt cx="0" cy="0"/>
        </a:xfrm>
      </p:grpSpPr>
      <p:sp>
        <p:nvSpPr>
          <p:cNvPr id="25" name="Google Shape;25;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 name="Google Shape;2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0"/>
        <p:cNvGrpSpPr/>
        <p:nvPr/>
      </p:nvGrpSpPr>
      <p:grpSpPr>
        <a:xfrm>
          <a:off x="0" y="0"/>
          <a:ext cx="0" cy="0"/>
          <a:chOff x="0" y="0"/>
          <a:chExt cx="0" cy="0"/>
        </a:xfrm>
      </p:grpSpPr>
      <p:sp>
        <p:nvSpPr>
          <p:cNvPr id="31" name="Google Shape;31;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6"/>
        <p:cNvGrpSpPr/>
        <p:nvPr/>
      </p:nvGrpSpPr>
      <p:grpSpPr>
        <a:xfrm>
          <a:off x="0" y="0"/>
          <a:ext cx="0" cy="0"/>
          <a:chOff x="0" y="0"/>
          <a:chExt cx="0" cy="0"/>
        </a:xfrm>
      </p:grpSpPr>
      <p:sp>
        <p:nvSpPr>
          <p:cNvPr id="37" name="Google Shape;37;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42"/>
        <p:cNvGrpSpPr/>
        <p:nvPr/>
      </p:nvGrpSpPr>
      <p:grpSpPr>
        <a:xfrm>
          <a:off x="0" y="0"/>
          <a:ext cx="0" cy="0"/>
          <a:chOff x="0" y="0"/>
          <a:chExt cx="0" cy="0"/>
        </a:xfrm>
      </p:grpSpPr>
      <p:sp>
        <p:nvSpPr>
          <p:cNvPr id="43" name="Google Shape;43;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9"/>
        <p:cNvGrpSpPr/>
        <p:nvPr/>
      </p:nvGrpSpPr>
      <p:grpSpPr>
        <a:xfrm>
          <a:off x="0" y="0"/>
          <a:ext cx="0" cy="0"/>
          <a:chOff x="0" y="0"/>
          <a:chExt cx="0" cy="0"/>
        </a:xfrm>
      </p:grpSpPr>
      <p:sp>
        <p:nvSpPr>
          <p:cNvPr id="50" name="Google Shape;50;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8"/>
        <p:cNvGrpSpPr/>
        <p:nvPr/>
      </p:nvGrpSpPr>
      <p:grpSpPr>
        <a:xfrm>
          <a:off x="0" y="0"/>
          <a:ext cx="0" cy="0"/>
          <a:chOff x="0" y="0"/>
          <a:chExt cx="0" cy="0"/>
        </a:xfrm>
      </p:grpSpPr>
      <p:sp>
        <p:nvSpPr>
          <p:cNvPr id="59" name="Google Shape;59;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3"/>
        <p:cNvGrpSpPr/>
        <p:nvPr/>
      </p:nvGrpSpPr>
      <p:grpSpPr>
        <a:xfrm>
          <a:off x="0" y="0"/>
          <a:ext cx="0" cy="0"/>
          <a:chOff x="0" y="0"/>
          <a:chExt cx="0" cy="0"/>
        </a:xfrm>
      </p:grpSpPr>
      <p:sp>
        <p:nvSpPr>
          <p:cNvPr id="64" name="Google Shape;64;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6" name="Google Shape;66;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7" name="Google Shape;6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0"/>
        <p:cNvGrpSpPr/>
        <p:nvPr/>
      </p:nvGrpSpPr>
      <p:grpSpPr>
        <a:xfrm>
          <a:off x="0" y="0"/>
          <a:ext cx="0" cy="0"/>
          <a:chOff x="0" y="0"/>
          <a:chExt cx="0" cy="0"/>
        </a:xfrm>
      </p:grpSpPr>
      <p:sp>
        <p:nvSpPr>
          <p:cNvPr id="71" name="Google Shape;71;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2"/>
          <p:cNvSpPr>
            <a:spLocks noGrp="1"/>
          </p:cNvSpPr>
          <p:nvPr>
            <p:ph type="pic" idx="2"/>
          </p:nvPr>
        </p:nvSpPr>
        <p:spPr>
          <a:xfrm>
            <a:off x="5183188" y="987425"/>
            <a:ext cx="6172200" cy="4873625"/>
          </a:xfrm>
          <a:prstGeom prst="rect">
            <a:avLst/>
          </a:prstGeom>
          <a:noFill/>
          <a:ln>
            <a:noFill/>
          </a:ln>
        </p:spPr>
      </p:sp>
      <p:sp>
        <p:nvSpPr>
          <p:cNvPr id="73" name="Google Shape;73;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7"/>
        <p:cNvGrpSpPr/>
        <p:nvPr/>
      </p:nvGrpSpPr>
      <p:grpSpPr>
        <a:xfrm>
          <a:off x="0" y="0"/>
          <a:ext cx="0" cy="0"/>
          <a:chOff x="0" y="0"/>
          <a:chExt cx="0" cy="0"/>
        </a:xfrm>
      </p:grpSpPr>
      <p:sp>
        <p:nvSpPr>
          <p:cNvPr id="78" name="Google Shape;7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3"/>
        <p:cNvGrpSpPr/>
        <p:nvPr/>
      </p:nvGrpSpPr>
      <p:grpSpPr>
        <a:xfrm>
          <a:off x="0" y="0"/>
          <a:ext cx="0" cy="0"/>
          <a:chOff x="0" y="0"/>
          <a:chExt cx="0" cy="0"/>
        </a:xfrm>
      </p:grpSpPr>
      <p:sp>
        <p:nvSpPr>
          <p:cNvPr id="84" name="Google Shape;84;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blipFill>
          <a:blip r:embed="rId2">
            <a:alphaModFix/>
          </a:blip>
          <a:stretch>
            <a:fillRect/>
          </a:stretch>
        </a:blipFill>
        <a:effectLst/>
      </p:bgPr>
    </p:bg>
    <p:spTree>
      <p:nvGrpSpPr>
        <p:cNvPr id="1" name="Shape 89"/>
        <p:cNvGrpSpPr/>
        <p:nvPr/>
      </p:nvGrpSpPr>
      <p:grpSpPr>
        <a:xfrm>
          <a:off x="0" y="0"/>
          <a:ext cx="0" cy="0"/>
          <a:chOff x="0" y="0"/>
          <a:chExt cx="0" cy="0"/>
        </a:xfrm>
      </p:grpSpPr>
      <p:sp>
        <p:nvSpPr>
          <p:cNvPr id="90" name="Google Shape;9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MX"/>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MX"/>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
          <p:cNvSpPr txBox="1"/>
          <p:nvPr/>
        </p:nvSpPr>
        <p:spPr>
          <a:xfrm>
            <a:off x="7377344" y="747601"/>
            <a:ext cx="4039339" cy="15696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400"/>
              <a:buFont typeface="Calibri"/>
              <a:buNone/>
            </a:pPr>
            <a:endParaRPr sz="2400" b="0" i="0" u="none" strike="noStrike" cap="none">
              <a:solidFill>
                <a:srgbClr val="00B050"/>
              </a:solidFill>
              <a:latin typeface="Calibri"/>
              <a:ea typeface="Calibri"/>
              <a:cs typeface="Calibri"/>
              <a:sym typeface="Calibri"/>
            </a:endParaRPr>
          </a:p>
          <a:p>
            <a:pPr marL="0" marR="0" lvl="0" indent="0" algn="ctr" rtl="0">
              <a:spcBef>
                <a:spcPts val="0"/>
              </a:spcBef>
              <a:spcAft>
                <a:spcPts val="0"/>
              </a:spcAft>
              <a:buClr>
                <a:srgbClr val="00B050"/>
              </a:buClr>
              <a:buSzPts val="3600"/>
              <a:buFont typeface="Calibri"/>
              <a:buNone/>
            </a:pPr>
            <a:r>
              <a:rPr lang="es-MX" sz="3600" b="1" i="0" u="none" strike="noStrike" cap="none">
                <a:solidFill>
                  <a:srgbClr val="00B050"/>
                </a:solidFill>
                <a:latin typeface="Calibri"/>
                <a:ea typeface="Calibri"/>
                <a:cs typeface="Calibri"/>
                <a:sym typeface="Calibri"/>
              </a:rPr>
              <a:t>Communicating Design Lion</a:t>
            </a:r>
            <a:endParaRPr sz="2400" b="0" i="0" u="none" strike="noStrike" cap="none">
              <a:solidFill>
                <a:srgbClr val="00B050"/>
              </a:solidFill>
              <a:latin typeface="Calibri"/>
              <a:ea typeface="Calibri"/>
              <a:cs typeface="Calibri"/>
              <a:sym typeface="Calibri"/>
            </a:endParaRPr>
          </a:p>
        </p:txBody>
      </p:sp>
      <p:sp>
        <p:nvSpPr>
          <p:cNvPr id="100" name="Google Shape;100;p1" descr="Colegio CEDID San Pablo | Portal Red Académica"/>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01" name="Google Shape;101;p1"/>
          <p:cNvPicPr preferRelativeResize="0"/>
          <p:nvPr/>
        </p:nvPicPr>
        <p:blipFill rotWithShape="1">
          <a:blip r:embed="rId3">
            <a:alphaModFix/>
          </a:blip>
          <a:srcRect/>
          <a:stretch/>
        </p:blipFill>
        <p:spPr>
          <a:xfrm>
            <a:off x="9476654" y="4286432"/>
            <a:ext cx="1614006" cy="1569620"/>
          </a:xfrm>
          <a:prstGeom prst="ellipse">
            <a:avLst/>
          </a:prstGeom>
          <a:noFill/>
          <a:ln w="19050" cap="rnd" cmpd="sng">
            <a:solidFill>
              <a:srgbClr val="333333"/>
            </a:solidFill>
            <a:prstDash val="solid"/>
            <a:round/>
            <a:headEnd type="none" w="sm" len="sm"/>
            <a:tailEnd type="none" w="sm" len="sm"/>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
          <p:cNvSpPr txBox="1"/>
          <p:nvPr/>
        </p:nvSpPr>
        <p:spPr>
          <a:xfrm>
            <a:off x="823449" y="3565127"/>
            <a:ext cx="4201311" cy="264324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2000"/>
              <a:buFont typeface="Arial"/>
              <a:buChar char="•"/>
            </a:pPr>
            <a:r>
              <a:rPr lang="es-MX" sz="2000" dirty="0">
                <a:solidFill>
                  <a:schemeClr val="dk1"/>
                </a:solidFill>
                <a:latin typeface="Calibri"/>
                <a:ea typeface="Calibri"/>
                <a:cs typeface="Calibri"/>
                <a:sym typeface="Calibri"/>
              </a:rPr>
              <a:t>David Roberto Ramirez Rodriguez</a:t>
            </a:r>
            <a:endParaRPr dirty="0"/>
          </a:p>
          <a:p>
            <a:pPr marL="0" marR="0" lvl="0" indent="0" algn="l" rtl="0">
              <a:lnSpc>
                <a:spcPct val="90000"/>
              </a:lnSpc>
              <a:spcBef>
                <a:spcPts val="600"/>
              </a:spcBef>
              <a:spcAft>
                <a:spcPts val="0"/>
              </a:spcAft>
              <a:buClr>
                <a:schemeClr val="dk1"/>
              </a:buClr>
              <a:buSzPts val="2000"/>
              <a:buFont typeface="Arial"/>
              <a:buChar char="•"/>
            </a:pPr>
            <a:r>
              <a:rPr lang="es-MX" sz="2000" dirty="0">
                <a:solidFill>
                  <a:schemeClr val="dk1"/>
                </a:solidFill>
                <a:latin typeface="Calibri"/>
                <a:ea typeface="Calibri"/>
                <a:cs typeface="Calibri"/>
                <a:sym typeface="Calibri"/>
              </a:rPr>
              <a:t>Johan Tellez Quintero</a:t>
            </a:r>
            <a:endParaRPr dirty="0"/>
          </a:p>
          <a:p>
            <a:pPr marL="0" marR="0" lvl="0" indent="0" algn="l" rtl="0">
              <a:lnSpc>
                <a:spcPct val="90000"/>
              </a:lnSpc>
              <a:spcBef>
                <a:spcPts val="600"/>
              </a:spcBef>
              <a:spcAft>
                <a:spcPts val="0"/>
              </a:spcAft>
              <a:buClr>
                <a:schemeClr val="dk1"/>
              </a:buClr>
              <a:buSzPts val="2000"/>
              <a:buFont typeface="Arial"/>
              <a:buChar char="•"/>
            </a:pPr>
            <a:r>
              <a:rPr lang="es-MX" sz="2000" dirty="0">
                <a:solidFill>
                  <a:schemeClr val="dk1"/>
                </a:solidFill>
                <a:latin typeface="Calibri"/>
                <a:ea typeface="Calibri"/>
                <a:cs typeface="Calibri"/>
                <a:sym typeface="Calibri"/>
              </a:rPr>
              <a:t>Samuel David Parrado Rodriguez</a:t>
            </a:r>
            <a:endParaRPr dirty="0"/>
          </a:p>
          <a:p>
            <a:pPr marL="0" marR="0" lvl="0" indent="0" algn="l" rtl="0">
              <a:lnSpc>
                <a:spcPct val="90000"/>
              </a:lnSpc>
              <a:spcBef>
                <a:spcPts val="600"/>
              </a:spcBef>
              <a:spcAft>
                <a:spcPts val="600"/>
              </a:spcAft>
              <a:buClr>
                <a:schemeClr val="dk1"/>
              </a:buClr>
              <a:buSzPts val="2000"/>
              <a:buFont typeface="Arial"/>
              <a:buChar char="•"/>
            </a:pPr>
            <a:r>
              <a:rPr lang="es-MX" sz="2000" dirty="0">
                <a:solidFill>
                  <a:schemeClr val="dk1"/>
                </a:solidFill>
                <a:latin typeface="Calibri"/>
                <a:ea typeface="Calibri"/>
                <a:cs typeface="Calibri"/>
                <a:sym typeface="Calibri"/>
              </a:rPr>
              <a:t>Felipe Carvajal Sandoval</a:t>
            </a:r>
            <a:endParaRPr dirty="0"/>
          </a:p>
        </p:txBody>
      </p:sp>
      <p:sp>
        <p:nvSpPr>
          <p:cNvPr id="108" name="Google Shape;108;p2"/>
          <p:cNvSpPr txBox="1"/>
          <p:nvPr/>
        </p:nvSpPr>
        <p:spPr>
          <a:xfrm>
            <a:off x="984143" y="1318984"/>
            <a:ext cx="3978474"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MX" sz="3600" b="1" i="1">
                <a:solidFill>
                  <a:srgbClr val="00B050"/>
                </a:solidFill>
                <a:latin typeface="Calibri"/>
                <a:ea typeface="Calibri"/>
                <a:cs typeface="Calibri"/>
                <a:sym typeface="Calibri"/>
              </a:rPr>
              <a:t>Communicating Design Lion</a:t>
            </a:r>
            <a:endParaRPr/>
          </a:p>
        </p:txBody>
      </p:sp>
      <p:sp>
        <p:nvSpPr>
          <p:cNvPr id="109" name="Google Shape;109;p2"/>
          <p:cNvSpPr txBox="1"/>
          <p:nvPr/>
        </p:nvSpPr>
        <p:spPr>
          <a:xfrm>
            <a:off x="984143" y="2942921"/>
            <a:ext cx="207865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MX" sz="2400" b="1">
                <a:solidFill>
                  <a:srgbClr val="00B050"/>
                </a:solidFill>
                <a:latin typeface="Calibri"/>
                <a:ea typeface="Calibri"/>
                <a:cs typeface="Calibri"/>
                <a:sym typeface="Calibri"/>
              </a:rPr>
              <a:t>Integrantes:</a:t>
            </a:r>
            <a:endParaRPr/>
          </a:p>
        </p:txBody>
      </p:sp>
      <p:pic>
        <p:nvPicPr>
          <p:cNvPr id="110" name="Google Shape;110;p2"/>
          <p:cNvPicPr preferRelativeResize="0"/>
          <p:nvPr/>
        </p:nvPicPr>
        <p:blipFill rotWithShape="1">
          <a:blip r:embed="rId3">
            <a:alphaModFix/>
          </a:blip>
          <a:srcRect/>
          <a:stretch/>
        </p:blipFill>
        <p:spPr>
          <a:xfrm>
            <a:off x="6096000" y="1457996"/>
            <a:ext cx="4333430" cy="4214261"/>
          </a:xfrm>
          <a:prstGeom prst="ellipse">
            <a:avLst/>
          </a:prstGeom>
          <a:noFill/>
          <a:ln w="28575" cap="rnd" cmpd="sng">
            <a:solidFill>
              <a:srgbClr val="333333"/>
            </a:solidFill>
            <a:prstDash val="solid"/>
            <a:round/>
            <a:headEnd type="none" w="sm" len="sm"/>
            <a:tailEnd type="none" w="sm" len="sm"/>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3"/>
          <p:cNvSpPr txBox="1"/>
          <p:nvPr/>
        </p:nvSpPr>
        <p:spPr>
          <a:xfrm>
            <a:off x="2334841" y="487041"/>
            <a:ext cx="7503267"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00B050"/>
              </a:buClr>
              <a:buSzPts val="3600"/>
              <a:buFont typeface="Calibri"/>
              <a:buNone/>
            </a:pPr>
            <a:r>
              <a:rPr lang="es-MX" sz="3600" b="1">
                <a:solidFill>
                  <a:srgbClr val="00B050"/>
                </a:solidFill>
                <a:latin typeface="Calibri"/>
                <a:ea typeface="Calibri"/>
                <a:cs typeface="Calibri"/>
                <a:sym typeface="Calibri"/>
              </a:rPr>
              <a:t>Tabla de Contenido</a:t>
            </a:r>
            <a:endParaRPr sz="1800">
              <a:solidFill>
                <a:srgbClr val="00B050"/>
              </a:solidFill>
              <a:latin typeface="Calibri"/>
              <a:ea typeface="Calibri"/>
              <a:cs typeface="Calibri"/>
              <a:sym typeface="Calibri"/>
            </a:endParaRPr>
          </a:p>
        </p:txBody>
      </p:sp>
      <p:sp>
        <p:nvSpPr>
          <p:cNvPr id="116" name="Google Shape;116;p3"/>
          <p:cNvSpPr txBox="1"/>
          <p:nvPr/>
        </p:nvSpPr>
        <p:spPr>
          <a:xfrm>
            <a:off x="1001709" y="2152182"/>
            <a:ext cx="2951449"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Calibri"/>
              <a:buNone/>
            </a:pPr>
            <a:r>
              <a:rPr lang="es-MX" sz="1800">
                <a:solidFill>
                  <a:schemeClr val="dk1"/>
                </a:solidFill>
                <a:latin typeface="Calibri"/>
                <a:ea typeface="Calibri"/>
                <a:cs typeface="Calibri"/>
                <a:sym typeface="Calibri"/>
              </a:rPr>
              <a:t>1. Presentación del proyecto</a:t>
            </a:r>
            <a:endParaRPr sz="2000">
              <a:solidFill>
                <a:schemeClr val="dk1"/>
              </a:solidFill>
              <a:latin typeface="Calibri"/>
              <a:ea typeface="Calibri"/>
              <a:cs typeface="Calibri"/>
              <a:sym typeface="Calibri"/>
            </a:endParaRPr>
          </a:p>
        </p:txBody>
      </p:sp>
      <p:sp>
        <p:nvSpPr>
          <p:cNvPr id="117" name="Google Shape;117;p3"/>
          <p:cNvSpPr txBox="1"/>
          <p:nvPr/>
        </p:nvSpPr>
        <p:spPr>
          <a:xfrm>
            <a:off x="1667158" y="3286211"/>
            <a:ext cx="2094548"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Calibri"/>
              <a:buNone/>
            </a:pPr>
            <a:r>
              <a:rPr lang="es-MX" sz="1800">
                <a:solidFill>
                  <a:schemeClr val="dk1"/>
                </a:solidFill>
                <a:latin typeface="Calibri"/>
                <a:ea typeface="Calibri"/>
                <a:cs typeface="Calibri"/>
                <a:sym typeface="Calibri"/>
              </a:rPr>
              <a:t>1. 2. Objetivos</a:t>
            </a:r>
            <a:endParaRPr sz="1800">
              <a:solidFill>
                <a:schemeClr val="dk1"/>
              </a:solidFill>
              <a:latin typeface="Calibri"/>
              <a:ea typeface="Calibri"/>
              <a:cs typeface="Calibri"/>
              <a:sym typeface="Calibri"/>
            </a:endParaRPr>
          </a:p>
        </p:txBody>
      </p:sp>
      <p:sp>
        <p:nvSpPr>
          <p:cNvPr id="118" name="Google Shape;118;p3"/>
          <p:cNvSpPr txBox="1"/>
          <p:nvPr/>
        </p:nvSpPr>
        <p:spPr>
          <a:xfrm>
            <a:off x="1957627" y="3570318"/>
            <a:ext cx="4572000"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Calibri"/>
              <a:buNone/>
            </a:pPr>
            <a:r>
              <a:rPr lang="es-MX" sz="1800" dirty="0">
                <a:solidFill>
                  <a:schemeClr val="dk1"/>
                </a:solidFill>
                <a:latin typeface="Calibri"/>
                <a:ea typeface="Calibri"/>
                <a:cs typeface="Calibri"/>
                <a:sym typeface="Calibri"/>
              </a:rPr>
              <a:t>1.2.1. General</a:t>
            </a:r>
            <a:endParaRPr dirty="0"/>
          </a:p>
          <a:p>
            <a:pPr marL="0" marR="0" lvl="0" indent="0" algn="l" rtl="0">
              <a:spcBef>
                <a:spcPts val="0"/>
              </a:spcBef>
              <a:spcAft>
                <a:spcPts val="0"/>
              </a:spcAft>
              <a:buClr>
                <a:schemeClr val="dk1"/>
              </a:buClr>
              <a:buSzPts val="1800"/>
              <a:buFont typeface="Calibri"/>
              <a:buNone/>
            </a:pPr>
            <a:r>
              <a:rPr lang="es-MX" sz="1800" dirty="0">
                <a:solidFill>
                  <a:schemeClr val="dk1"/>
                </a:solidFill>
                <a:latin typeface="Calibri"/>
                <a:ea typeface="Calibri"/>
                <a:cs typeface="Calibri"/>
                <a:sym typeface="Calibri"/>
              </a:rPr>
              <a:t>1.2.2. Específicos</a:t>
            </a:r>
            <a:endParaRPr dirty="0"/>
          </a:p>
        </p:txBody>
      </p:sp>
      <p:sp>
        <p:nvSpPr>
          <p:cNvPr id="119" name="Google Shape;119;p3"/>
          <p:cNvSpPr txBox="1"/>
          <p:nvPr/>
        </p:nvSpPr>
        <p:spPr>
          <a:xfrm>
            <a:off x="1667158" y="2400751"/>
            <a:ext cx="4572000"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Calibri"/>
              <a:buNone/>
            </a:pPr>
            <a:r>
              <a:rPr lang="es-MX" sz="1800">
                <a:solidFill>
                  <a:schemeClr val="dk1"/>
                </a:solidFill>
                <a:latin typeface="Calibri"/>
                <a:ea typeface="Calibri"/>
                <a:cs typeface="Calibri"/>
                <a:sym typeface="Calibri"/>
              </a:rPr>
              <a:t>1.1 De qué trata</a:t>
            </a:r>
            <a:endParaRPr/>
          </a:p>
          <a:p>
            <a:pPr marL="0" marR="0" lvl="0" indent="0" algn="l" rtl="0">
              <a:spcBef>
                <a:spcPts val="0"/>
              </a:spcBef>
              <a:spcAft>
                <a:spcPts val="0"/>
              </a:spcAft>
              <a:buClr>
                <a:schemeClr val="dk1"/>
              </a:buClr>
              <a:buSzPts val="1800"/>
              <a:buFont typeface="Calibri"/>
              <a:buNone/>
            </a:pPr>
            <a:r>
              <a:rPr lang="es-MX" sz="1800">
                <a:solidFill>
                  <a:schemeClr val="dk1"/>
                </a:solidFill>
                <a:latin typeface="Calibri"/>
                <a:ea typeface="Calibri"/>
                <a:cs typeface="Calibri"/>
                <a:sym typeface="Calibri"/>
              </a:rPr>
              <a:t>1.1.1 ¿ Cuál es el problema? </a:t>
            </a:r>
            <a:endParaRPr sz="20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800"/>
              <a:buFont typeface="Calibri"/>
              <a:buNone/>
            </a:pPr>
            <a:r>
              <a:rPr lang="es-MX" sz="1800">
                <a:solidFill>
                  <a:schemeClr val="dk1"/>
                </a:solidFill>
                <a:latin typeface="Calibri"/>
                <a:ea typeface="Calibri"/>
                <a:cs typeface="Calibri"/>
                <a:sym typeface="Calibri"/>
              </a:rPr>
              <a:t>      1.1.2 ¿Cuál es la solución?       </a:t>
            </a:r>
            <a:endParaRPr sz="2000">
              <a:solidFill>
                <a:schemeClr val="dk1"/>
              </a:solidFill>
              <a:latin typeface="Calibri"/>
              <a:ea typeface="Calibri"/>
              <a:cs typeface="Calibri"/>
              <a:sym typeface="Calibri"/>
            </a:endParaRPr>
          </a:p>
        </p:txBody>
      </p:sp>
      <p:sp>
        <p:nvSpPr>
          <p:cNvPr id="120" name="Google Shape;120;p3"/>
          <p:cNvSpPr txBox="1"/>
          <p:nvPr/>
        </p:nvSpPr>
        <p:spPr>
          <a:xfrm>
            <a:off x="1001709" y="4151882"/>
            <a:ext cx="1601532"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Calibri"/>
              <a:buNone/>
            </a:pPr>
            <a:r>
              <a:rPr lang="es-MX" sz="1800">
                <a:solidFill>
                  <a:schemeClr val="dk1"/>
                </a:solidFill>
                <a:latin typeface="Calibri"/>
                <a:ea typeface="Calibri"/>
                <a:cs typeface="Calibri"/>
                <a:sym typeface="Calibri"/>
              </a:rPr>
              <a:t>2. Entregables </a:t>
            </a:r>
            <a:endParaRPr sz="20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4"/>
          <p:cNvSpPr txBox="1"/>
          <p:nvPr/>
        </p:nvSpPr>
        <p:spPr>
          <a:xfrm>
            <a:off x="2476843" y="2514171"/>
            <a:ext cx="6674480" cy="17542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00B050"/>
              </a:buClr>
              <a:buSzPts val="5400"/>
              <a:buFont typeface="Calibri"/>
              <a:buNone/>
            </a:pPr>
            <a:r>
              <a:rPr lang="es-MX" sz="5400" b="1">
                <a:solidFill>
                  <a:srgbClr val="00B050"/>
                </a:solidFill>
                <a:latin typeface="Calibri"/>
                <a:ea typeface="Calibri"/>
                <a:cs typeface="Calibri"/>
                <a:sym typeface="Calibri"/>
              </a:rPr>
              <a:t>Presentación del proyecto</a:t>
            </a:r>
            <a:endParaRPr sz="5400" b="1">
              <a:solidFill>
                <a:srgbClr val="00B05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p:nvPr/>
        </p:nvSpPr>
        <p:spPr>
          <a:xfrm>
            <a:off x="691381" y="772627"/>
            <a:ext cx="5318426"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B050"/>
              </a:buClr>
              <a:buSzPts val="2800"/>
              <a:buFont typeface="Calibri"/>
              <a:buNone/>
            </a:pPr>
            <a:r>
              <a:rPr lang="es-MX" sz="2800" b="1">
                <a:solidFill>
                  <a:srgbClr val="00B050"/>
                </a:solidFill>
                <a:latin typeface="Calibri"/>
                <a:ea typeface="Calibri"/>
                <a:cs typeface="Calibri"/>
                <a:sym typeface="Calibri"/>
              </a:rPr>
              <a:t>1. Presentación del Proyecto </a:t>
            </a:r>
            <a:endParaRPr sz="2800" b="1">
              <a:solidFill>
                <a:srgbClr val="00B050"/>
              </a:solidFill>
              <a:latin typeface="Calibri"/>
              <a:ea typeface="Calibri"/>
              <a:cs typeface="Calibri"/>
              <a:sym typeface="Calibri"/>
            </a:endParaRPr>
          </a:p>
          <a:p>
            <a:pPr marL="0" marR="0" lvl="0" indent="0" algn="l" rtl="0">
              <a:spcBef>
                <a:spcPts val="0"/>
              </a:spcBef>
              <a:spcAft>
                <a:spcPts val="0"/>
              </a:spcAft>
              <a:buClr>
                <a:srgbClr val="00B050"/>
              </a:buClr>
              <a:buSzPts val="2800"/>
              <a:buFont typeface="Calibri"/>
              <a:buNone/>
            </a:pPr>
            <a:endParaRPr sz="2800" b="1">
              <a:solidFill>
                <a:srgbClr val="00B050"/>
              </a:solidFill>
              <a:latin typeface="Calibri"/>
              <a:ea typeface="Calibri"/>
              <a:cs typeface="Calibri"/>
              <a:sym typeface="Calibri"/>
            </a:endParaRPr>
          </a:p>
        </p:txBody>
      </p:sp>
      <p:sp>
        <p:nvSpPr>
          <p:cNvPr id="132" name="Google Shape;132;p5"/>
          <p:cNvSpPr txBox="1"/>
          <p:nvPr/>
        </p:nvSpPr>
        <p:spPr>
          <a:xfrm>
            <a:off x="691381" y="1726694"/>
            <a:ext cx="11270400" cy="2442300"/>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Clr>
                <a:schemeClr val="dk1"/>
              </a:buClr>
              <a:buSzPts val="2400"/>
              <a:buFont typeface="Arial"/>
              <a:buNone/>
            </a:pPr>
            <a:r>
              <a:rPr lang="es-MX" sz="2400" b="1">
                <a:solidFill>
                  <a:schemeClr val="dk1"/>
                </a:solidFill>
                <a:latin typeface="Arial"/>
                <a:ea typeface="Arial"/>
                <a:cs typeface="Arial"/>
                <a:sym typeface="Arial"/>
              </a:rPr>
              <a:t>1.1 ¿De </a:t>
            </a:r>
            <a:r>
              <a:rPr lang="es-MX" sz="2400" b="1">
                <a:solidFill>
                  <a:schemeClr val="dk1"/>
                </a:solidFill>
              </a:rPr>
              <a:t>qué</a:t>
            </a:r>
            <a:r>
              <a:rPr lang="es-MX" sz="2400" b="1">
                <a:solidFill>
                  <a:schemeClr val="dk1"/>
                </a:solidFill>
                <a:latin typeface="Arial"/>
                <a:ea typeface="Arial"/>
                <a:cs typeface="Arial"/>
                <a:sym typeface="Arial"/>
              </a:rPr>
              <a:t> trata?</a:t>
            </a:r>
            <a:endParaRPr/>
          </a:p>
          <a:p>
            <a:pPr marL="0" marR="0" lvl="0" indent="0" algn="just" rtl="0">
              <a:lnSpc>
                <a:spcPct val="107000"/>
              </a:lnSpc>
              <a:spcBef>
                <a:spcPts val="0"/>
              </a:spcBef>
              <a:spcAft>
                <a:spcPts val="0"/>
              </a:spcAft>
              <a:buNone/>
            </a:pPr>
            <a:r>
              <a:rPr lang="es-MX" sz="2000">
                <a:solidFill>
                  <a:schemeClr val="dk1"/>
                </a:solidFill>
                <a:latin typeface="Arial"/>
                <a:ea typeface="Arial"/>
                <a:cs typeface="Arial"/>
                <a:sym typeface="Arial"/>
              </a:rPr>
              <a:t>Communicating Design Lion es una empresa especializada en fotografía y video filmación profesional de eventos como bodas, grados y celebraciones. Su enfoque combina lo visual con lo emocional, utilizando tecnología avanzada y edición creativa para transformar momentos importantes en recuerdos únicos. Además, entrega sus productos en contenedores temáticos artesanales e interactivos, ofreciendo una experiencia personalizada que va más allá de una simple imagen o video.</a:t>
            </a:r>
            <a:endParaRPr/>
          </a:p>
        </p:txBody>
      </p:sp>
      <p:sp>
        <p:nvSpPr>
          <p:cNvPr id="133" name="Google Shape;133;p5"/>
          <p:cNvSpPr/>
          <p:nvPr/>
        </p:nvSpPr>
        <p:spPr>
          <a:xfrm rot="10800000" flipH="1">
            <a:off x="1340632" y="1226802"/>
            <a:ext cx="1074156" cy="4571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rgbClr val="92D050"/>
              </a:solidFill>
              <a:latin typeface="Calibri"/>
              <a:ea typeface="Calibri"/>
              <a:cs typeface="Calibri"/>
              <a:sym typeface="Calibri"/>
            </a:endParaRPr>
          </a:p>
        </p:txBody>
      </p:sp>
      <p:pic>
        <p:nvPicPr>
          <p:cNvPr id="134" name="Google Shape;134;p5"/>
          <p:cNvPicPr preferRelativeResize="0"/>
          <p:nvPr/>
        </p:nvPicPr>
        <p:blipFill rotWithShape="1">
          <a:blip r:embed="rId3">
            <a:alphaModFix/>
          </a:blip>
          <a:srcRect/>
          <a:stretch/>
        </p:blipFill>
        <p:spPr>
          <a:xfrm>
            <a:off x="4743282" y="4225021"/>
            <a:ext cx="2533049" cy="2463391"/>
          </a:xfrm>
          <a:prstGeom prst="ellipse">
            <a:avLst/>
          </a:prstGeom>
          <a:noFill/>
          <a:ln w="19050" cap="rnd" cmpd="sng">
            <a:solidFill>
              <a:srgbClr val="333333"/>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6"/>
          <p:cNvSpPr txBox="1"/>
          <p:nvPr/>
        </p:nvSpPr>
        <p:spPr>
          <a:xfrm>
            <a:off x="691381" y="772627"/>
            <a:ext cx="5318426"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B050"/>
              </a:buClr>
              <a:buSzPts val="2800"/>
              <a:buFont typeface="Calibri"/>
              <a:buNone/>
            </a:pPr>
            <a:r>
              <a:rPr lang="es-MX" sz="2800" b="1">
                <a:solidFill>
                  <a:srgbClr val="00B050"/>
                </a:solidFill>
                <a:latin typeface="Calibri"/>
                <a:ea typeface="Calibri"/>
                <a:cs typeface="Calibri"/>
                <a:sym typeface="Calibri"/>
              </a:rPr>
              <a:t>1. Presentación del Proyecto </a:t>
            </a:r>
            <a:endParaRPr sz="2800" b="1">
              <a:solidFill>
                <a:srgbClr val="00B050"/>
              </a:solidFill>
              <a:latin typeface="Calibri"/>
              <a:ea typeface="Calibri"/>
              <a:cs typeface="Calibri"/>
              <a:sym typeface="Calibri"/>
            </a:endParaRPr>
          </a:p>
          <a:p>
            <a:pPr marL="0" marR="0" lvl="0" indent="0" algn="l" rtl="0">
              <a:spcBef>
                <a:spcPts val="0"/>
              </a:spcBef>
              <a:spcAft>
                <a:spcPts val="0"/>
              </a:spcAft>
              <a:buClr>
                <a:srgbClr val="00B050"/>
              </a:buClr>
              <a:buSzPts val="2800"/>
              <a:buFont typeface="Calibri"/>
              <a:buNone/>
            </a:pPr>
            <a:endParaRPr sz="2800" b="1">
              <a:solidFill>
                <a:srgbClr val="00B050"/>
              </a:solidFill>
              <a:latin typeface="Calibri"/>
              <a:ea typeface="Calibri"/>
              <a:cs typeface="Calibri"/>
              <a:sym typeface="Calibri"/>
            </a:endParaRPr>
          </a:p>
        </p:txBody>
      </p:sp>
      <p:sp>
        <p:nvSpPr>
          <p:cNvPr id="141" name="Google Shape;141;p6"/>
          <p:cNvSpPr txBox="1"/>
          <p:nvPr/>
        </p:nvSpPr>
        <p:spPr>
          <a:xfrm>
            <a:off x="6460140" y="1726694"/>
            <a:ext cx="4913713" cy="3300543"/>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Clr>
                <a:schemeClr val="dk1"/>
              </a:buClr>
              <a:buSzPts val="2400"/>
              <a:buFont typeface="Arial"/>
              <a:buNone/>
            </a:pPr>
            <a:r>
              <a:rPr lang="es-MX" sz="2400" b="1">
                <a:solidFill>
                  <a:schemeClr val="dk1"/>
                </a:solidFill>
                <a:latin typeface="Arial"/>
                <a:ea typeface="Arial"/>
                <a:cs typeface="Arial"/>
                <a:sym typeface="Arial"/>
              </a:rPr>
              <a:t>1.1.2 ¿Cuál es la solución?</a:t>
            </a:r>
            <a:endParaRPr/>
          </a:p>
          <a:p>
            <a:pPr marL="0" marR="0" lvl="0" indent="0" algn="l" rtl="0">
              <a:lnSpc>
                <a:spcPct val="107000"/>
              </a:lnSpc>
              <a:spcBef>
                <a:spcPts val="0"/>
              </a:spcBef>
              <a:spcAft>
                <a:spcPts val="0"/>
              </a:spcAft>
              <a:buClr>
                <a:schemeClr val="dk1"/>
              </a:buClr>
              <a:buSzPts val="2400"/>
              <a:buFont typeface="Calibri"/>
              <a:buNone/>
            </a:pPr>
            <a:endParaRPr sz="2400" b="1">
              <a:solidFill>
                <a:schemeClr val="dk1"/>
              </a:solidFill>
              <a:latin typeface="Arial"/>
              <a:ea typeface="Arial"/>
              <a:cs typeface="Arial"/>
              <a:sym typeface="Arial"/>
            </a:endParaRPr>
          </a:p>
          <a:p>
            <a:pPr marL="0" marR="0" lvl="0" indent="0" algn="l" rtl="0">
              <a:spcBef>
                <a:spcPts val="0"/>
              </a:spcBef>
              <a:spcAft>
                <a:spcPts val="0"/>
              </a:spcAft>
              <a:buNone/>
            </a:pPr>
            <a:r>
              <a:rPr lang="es-MX" sz="2000">
                <a:solidFill>
                  <a:schemeClr val="dk1"/>
                </a:solidFill>
                <a:latin typeface="Arial"/>
                <a:ea typeface="Arial"/>
                <a:cs typeface="Arial"/>
                <a:sym typeface="Arial"/>
              </a:rPr>
              <a:t>Se le da una solución a la ausencia de una página web en la empresa, permitiéndoles establecer  una mejor vía de comunicación con sus clientes, ofrecer sus servicios en línea, y facilitar su expansión, así como el seguimiento y la accesibilidad para los usuarios.</a:t>
            </a:r>
            <a:endParaRPr sz="2000">
              <a:solidFill>
                <a:schemeClr val="dk1"/>
              </a:solidFill>
              <a:latin typeface="Arial"/>
              <a:ea typeface="Arial"/>
              <a:cs typeface="Arial"/>
              <a:sym typeface="Arial"/>
            </a:endParaRPr>
          </a:p>
          <a:p>
            <a:pPr marL="0" marR="0" lvl="0" indent="0" algn="just" rtl="0">
              <a:lnSpc>
                <a:spcPct val="107000"/>
              </a:lnSpc>
              <a:spcBef>
                <a:spcPts val="0"/>
              </a:spcBef>
              <a:spcAft>
                <a:spcPts val="0"/>
              </a:spcAft>
              <a:buNone/>
            </a:pPr>
            <a:endParaRPr sz="1600">
              <a:solidFill>
                <a:schemeClr val="dk1"/>
              </a:solidFill>
              <a:latin typeface="Arial"/>
              <a:ea typeface="Arial"/>
              <a:cs typeface="Arial"/>
              <a:sym typeface="Arial"/>
            </a:endParaRPr>
          </a:p>
        </p:txBody>
      </p:sp>
      <p:sp>
        <p:nvSpPr>
          <p:cNvPr id="142" name="Google Shape;142;p6"/>
          <p:cNvSpPr txBox="1"/>
          <p:nvPr/>
        </p:nvSpPr>
        <p:spPr>
          <a:xfrm>
            <a:off x="1141714" y="1726694"/>
            <a:ext cx="4868093" cy="3517205"/>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Clr>
                <a:schemeClr val="dk1"/>
              </a:buClr>
              <a:buSzPts val="2400"/>
              <a:buFont typeface="Arial"/>
              <a:buNone/>
            </a:pPr>
            <a:r>
              <a:rPr lang="es-MX" sz="2400" b="1" dirty="0">
                <a:solidFill>
                  <a:schemeClr val="dk1"/>
                </a:solidFill>
                <a:latin typeface="Arial"/>
                <a:ea typeface="Arial"/>
                <a:cs typeface="Arial"/>
                <a:sym typeface="Arial"/>
              </a:rPr>
              <a:t>1.1.1 ¿Cuál es el problema?</a:t>
            </a:r>
            <a:endParaRPr dirty="0"/>
          </a:p>
          <a:p>
            <a:pPr marL="0" marR="0" lvl="0" indent="0" algn="l" rtl="0">
              <a:lnSpc>
                <a:spcPct val="107000"/>
              </a:lnSpc>
              <a:spcBef>
                <a:spcPts val="0"/>
              </a:spcBef>
              <a:spcAft>
                <a:spcPts val="0"/>
              </a:spcAft>
              <a:buClr>
                <a:schemeClr val="dk1"/>
              </a:buClr>
              <a:buSzPts val="2400"/>
              <a:buFont typeface="Calibri"/>
              <a:buNone/>
            </a:pPr>
            <a:endParaRPr sz="2400" b="1" dirty="0">
              <a:solidFill>
                <a:schemeClr val="dk1"/>
              </a:solidFill>
              <a:latin typeface="Arial"/>
              <a:ea typeface="Arial"/>
              <a:cs typeface="Arial"/>
              <a:sym typeface="Arial"/>
            </a:endParaRPr>
          </a:p>
          <a:p>
            <a:pPr marL="0" marR="0" lvl="0" indent="0" algn="just" rtl="0">
              <a:lnSpc>
                <a:spcPct val="107000"/>
              </a:lnSpc>
              <a:spcBef>
                <a:spcPts val="0"/>
              </a:spcBef>
              <a:spcAft>
                <a:spcPts val="0"/>
              </a:spcAft>
              <a:buNone/>
            </a:pPr>
            <a:r>
              <a:rPr lang="es-MX" sz="2000" dirty="0">
                <a:solidFill>
                  <a:schemeClr val="dk1"/>
                </a:solidFill>
                <a:latin typeface="Arial"/>
                <a:ea typeface="Arial"/>
                <a:cs typeface="Arial"/>
                <a:sym typeface="Arial"/>
              </a:rPr>
              <a:t>La falta de una base digital que respalde sus servicios web ni con una vía de comunicación efectiva para sus clientes. Actualmente, estos procesos se manejan de forma manual, lo que puede ocasionar desorganización, pérdida de información y retrasos en la atención. </a:t>
            </a:r>
            <a:endParaRPr sz="2000" dirty="0">
              <a:solidFill>
                <a:schemeClr val="dk1"/>
              </a:solidFill>
              <a:latin typeface="Arial"/>
              <a:ea typeface="Arial"/>
              <a:cs typeface="Arial"/>
              <a:sym typeface="Arial"/>
            </a:endParaRPr>
          </a:p>
          <a:p>
            <a:pPr marL="0" marR="0" lvl="0" indent="0" algn="just" rtl="0">
              <a:lnSpc>
                <a:spcPct val="107000"/>
              </a:lnSpc>
              <a:spcBef>
                <a:spcPts val="0"/>
              </a:spcBef>
              <a:spcAft>
                <a:spcPts val="0"/>
              </a:spcAft>
              <a:buNone/>
            </a:pPr>
            <a:endParaRPr sz="2000" dirty="0">
              <a:solidFill>
                <a:schemeClr val="dk1"/>
              </a:solidFill>
              <a:latin typeface="Arial"/>
              <a:ea typeface="Arial"/>
              <a:cs typeface="Arial"/>
              <a:sym typeface="Arial"/>
            </a:endParaRPr>
          </a:p>
        </p:txBody>
      </p:sp>
      <p:sp>
        <p:nvSpPr>
          <p:cNvPr id="143" name="Google Shape;143;p6"/>
          <p:cNvSpPr/>
          <p:nvPr/>
        </p:nvSpPr>
        <p:spPr>
          <a:xfrm rot="10800000" flipH="1">
            <a:off x="1340632" y="1226802"/>
            <a:ext cx="1074156" cy="4571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rgbClr val="92D05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7"/>
          <p:cNvSpPr txBox="1"/>
          <p:nvPr/>
        </p:nvSpPr>
        <p:spPr>
          <a:xfrm>
            <a:off x="691381" y="795487"/>
            <a:ext cx="5318426"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B050"/>
              </a:buClr>
              <a:buSzPts val="2800"/>
              <a:buFont typeface="Calibri"/>
              <a:buNone/>
            </a:pPr>
            <a:r>
              <a:rPr lang="es-MX" sz="2800" b="1">
                <a:solidFill>
                  <a:srgbClr val="00B050"/>
                </a:solidFill>
                <a:latin typeface="Calibri"/>
                <a:ea typeface="Calibri"/>
                <a:cs typeface="Calibri"/>
                <a:sym typeface="Calibri"/>
              </a:rPr>
              <a:t>1.2 Objetivos </a:t>
            </a:r>
            <a:endParaRPr sz="2800" b="1">
              <a:solidFill>
                <a:srgbClr val="00B050"/>
              </a:solidFill>
              <a:latin typeface="Calibri"/>
              <a:ea typeface="Calibri"/>
              <a:cs typeface="Calibri"/>
              <a:sym typeface="Calibri"/>
            </a:endParaRPr>
          </a:p>
        </p:txBody>
      </p:sp>
      <p:sp>
        <p:nvSpPr>
          <p:cNvPr id="150" name="Google Shape;150;p7"/>
          <p:cNvSpPr txBox="1"/>
          <p:nvPr/>
        </p:nvSpPr>
        <p:spPr>
          <a:xfrm>
            <a:off x="1430682" y="1524142"/>
            <a:ext cx="9639394" cy="2232558"/>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Clr>
                <a:schemeClr val="dk1"/>
              </a:buClr>
              <a:buSzPts val="2400"/>
              <a:buFont typeface="Arial"/>
              <a:buNone/>
            </a:pPr>
            <a:r>
              <a:rPr lang="es-MX" sz="2400" b="1">
                <a:solidFill>
                  <a:schemeClr val="dk1"/>
                </a:solidFill>
                <a:latin typeface="Arial"/>
                <a:ea typeface="Arial"/>
                <a:cs typeface="Arial"/>
                <a:sym typeface="Arial"/>
              </a:rPr>
              <a:t>1.2.1 General </a:t>
            </a:r>
            <a:endParaRPr/>
          </a:p>
          <a:p>
            <a:pPr marL="0" marR="0" lvl="0" indent="0" algn="l" rtl="0">
              <a:spcBef>
                <a:spcPts val="0"/>
              </a:spcBef>
              <a:spcAft>
                <a:spcPts val="0"/>
              </a:spcAft>
              <a:buNone/>
            </a:pPr>
            <a:br>
              <a:rPr lang="es-MX" sz="2000">
                <a:solidFill>
                  <a:schemeClr val="dk1"/>
                </a:solidFill>
                <a:latin typeface="Arial"/>
                <a:ea typeface="Arial"/>
                <a:cs typeface="Arial"/>
                <a:sym typeface="Arial"/>
              </a:rPr>
            </a:br>
            <a:r>
              <a:rPr lang="es-MX" sz="2400">
                <a:solidFill>
                  <a:schemeClr val="dk1"/>
                </a:solidFill>
                <a:latin typeface="Arial"/>
                <a:ea typeface="Arial"/>
                <a:cs typeface="Arial"/>
                <a:sym typeface="Arial"/>
              </a:rPr>
              <a:t>Ofrecer un portafolio de servicios en línea que facilite la interacción directa con la empresa y optimice los procesos de comunicación al momento de realizar citas y resolver inquietudes.</a:t>
            </a:r>
            <a:endParaRPr sz="2800">
              <a:solidFill>
                <a:schemeClr val="dk1"/>
              </a:solidFill>
              <a:latin typeface="Arial"/>
              <a:ea typeface="Arial"/>
              <a:cs typeface="Arial"/>
              <a:sym typeface="Arial"/>
            </a:endParaRPr>
          </a:p>
          <a:p>
            <a:pPr marL="0" marR="0" lvl="0" indent="0" algn="just" rtl="0">
              <a:lnSpc>
                <a:spcPct val="107000"/>
              </a:lnSpc>
              <a:spcBef>
                <a:spcPts val="0"/>
              </a:spcBef>
              <a:spcAft>
                <a:spcPts val="0"/>
              </a:spcAft>
              <a:buNone/>
            </a:pPr>
            <a:endParaRPr sz="2000">
              <a:solidFill>
                <a:schemeClr val="dk1"/>
              </a:solidFill>
              <a:latin typeface="Arial"/>
              <a:ea typeface="Arial"/>
              <a:cs typeface="Arial"/>
              <a:sym typeface="Arial"/>
            </a:endParaRPr>
          </a:p>
        </p:txBody>
      </p:sp>
      <p:sp>
        <p:nvSpPr>
          <p:cNvPr id="151" name="Google Shape;151;p7"/>
          <p:cNvSpPr/>
          <p:nvPr/>
        </p:nvSpPr>
        <p:spPr>
          <a:xfrm rot="10800000" flipH="1">
            <a:off x="1340632" y="1226802"/>
            <a:ext cx="1074156" cy="4571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rgbClr val="92D050"/>
              </a:solidFill>
              <a:latin typeface="Calibri"/>
              <a:ea typeface="Calibri"/>
              <a:cs typeface="Calibri"/>
              <a:sym typeface="Calibri"/>
            </a:endParaRPr>
          </a:p>
        </p:txBody>
      </p:sp>
      <p:pic>
        <p:nvPicPr>
          <p:cNvPr id="152" name="Google Shape;152;p7"/>
          <p:cNvPicPr preferRelativeResize="0"/>
          <p:nvPr/>
        </p:nvPicPr>
        <p:blipFill rotWithShape="1">
          <a:blip r:embed="rId3">
            <a:alphaModFix/>
          </a:blip>
          <a:srcRect/>
          <a:stretch/>
        </p:blipFill>
        <p:spPr>
          <a:xfrm>
            <a:off x="4722759" y="3622836"/>
            <a:ext cx="3055241" cy="2971222"/>
          </a:xfrm>
          <a:prstGeom prst="ellipse">
            <a:avLst/>
          </a:prstGeom>
          <a:noFill/>
          <a:ln w="28575" cap="rnd" cmpd="sng">
            <a:solidFill>
              <a:srgbClr val="333333"/>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8"/>
          <p:cNvSpPr txBox="1"/>
          <p:nvPr/>
        </p:nvSpPr>
        <p:spPr>
          <a:xfrm>
            <a:off x="691381" y="795487"/>
            <a:ext cx="5318426"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B050"/>
              </a:buClr>
              <a:buSzPts val="2800"/>
              <a:buFont typeface="Calibri"/>
              <a:buNone/>
            </a:pPr>
            <a:r>
              <a:rPr lang="es-MX" sz="2800" b="1">
                <a:solidFill>
                  <a:srgbClr val="00B050"/>
                </a:solidFill>
                <a:latin typeface="Calibri"/>
                <a:ea typeface="Calibri"/>
                <a:cs typeface="Calibri"/>
                <a:sym typeface="Calibri"/>
              </a:rPr>
              <a:t>1.2 Objetivos </a:t>
            </a:r>
            <a:endParaRPr sz="2800" b="1">
              <a:solidFill>
                <a:srgbClr val="00B050"/>
              </a:solidFill>
              <a:latin typeface="Calibri"/>
              <a:ea typeface="Calibri"/>
              <a:cs typeface="Calibri"/>
              <a:sym typeface="Calibri"/>
            </a:endParaRPr>
          </a:p>
          <a:p>
            <a:pPr marL="0" marR="0" lvl="0" indent="0" algn="l" rtl="0">
              <a:spcBef>
                <a:spcPts val="0"/>
              </a:spcBef>
              <a:spcAft>
                <a:spcPts val="0"/>
              </a:spcAft>
              <a:buClr>
                <a:srgbClr val="00B050"/>
              </a:buClr>
              <a:buSzPts val="2800"/>
              <a:buFont typeface="Calibri"/>
              <a:buNone/>
            </a:pPr>
            <a:endParaRPr sz="2800" b="1">
              <a:solidFill>
                <a:srgbClr val="00B050"/>
              </a:solidFill>
              <a:latin typeface="Calibri"/>
              <a:ea typeface="Calibri"/>
              <a:cs typeface="Calibri"/>
              <a:sym typeface="Calibri"/>
            </a:endParaRPr>
          </a:p>
        </p:txBody>
      </p:sp>
      <p:sp>
        <p:nvSpPr>
          <p:cNvPr id="159" name="Google Shape;159;p8"/>
          <p:cNvSpPr txBox="1"/>
          <p:nvPr/>
        </p:nvSpPr>
        <p:spPr>
          <a:xfrm>
            <a:off x="691381" y="1477958"/>
            <a:ext cx="11166636" cy="3898847"/>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s-MX" sz="2800" b="1">
                <a:solidFill>
                  <a:schemeClr val="dk1"/>
                </a:solidFill>
                <a:latin typeface="Arial"/>
                <a:ea typeface="Arial"/>
                <a:cs typeface="Arial"/>
                <a:sym typeface="Arial"/>
              </a:rPr>
              <a:t>1.2.2 Específicos </a:t>
            </a:r>
            <a:endParaRPr/>
          </a:p>
          <a:p>
            <a:pPr marL="0" marR="0" lvl="0" indent="0" algn="l" rtl="0">
              <a:spcBef>
                <a:spcPts val="0"/>
              </a:spcBef>
              <a:spcAft>
                <a:spcPts val="0"/>
              </a:spcAft>
              <a:buNone/>
            </a:pPr>
            <a:endParaRPr sz="2800" b="1">
              <a:solidFill>
                <a:schemeClr val="dk1"/>
              </a:solidFill>
              <a:latin typeface="Arial"/>
              <a:ea typeface="Arial"/>
              <a:cs typeface="Arial"/>
              <a:sym typeface="Arial"/>
            </a:endParaRPr>
          </a:p>
          <a:p>
            <a:pPr marL="285750" marR="0" lvl="0" indent="-285750" algn="l" rtl="0">
              <a:spcBef>
                <a:spcPts val="0"/>
              </a:spcBef>
              <a:spcAft>
                <a:spcPts val="0"/>
              </a:spcAft>
              <a:buClr>
                <a:schemeClr val="dk1"/>
              </a:buClr>
              <a:buSzPts val="2800"/>
              <a:buFont typeface="Arial"/>
              <a:buChar char="•"/>
            </a:pPr>
            <a:r>
              <a:rPr lang="es-MX" sz="2800">
                <a:solidFill>
                  <a:schemeClr val="dk1"/>
                </a:solidFill>
                <a:latin typeface="Arial"/>
                <a:ea typeface="Arial"/>
                <a:cs typeface="Arial"/>
                <a:sym typeface="Arial"/>
              </a:rPr>
              <a:t>Presentar el portafolio de servicios a los clientes.</a:t>
            </a:r>
            <a:endParaRPr sz="2800">
              <a:solidFill>
                <a:schemeClr val="dk1"/>
              </a:solidFill>
              <a:latin typeface="Arial"/>
              <a:ea typeface="Arial"/>
              <a:cs typeface="Arial"/>
              <a:sym typeface="Arial"/>
            </a:endParaRPr>
          </a:p>
          <a:p>
            <a:pPr marL="285750" marR="0" lvl="0" indent="-285750" algn="l" rtl="0">
              <a:spcBef>
                <a:spcPts val="0"/>
              </a:spcBef>
              <a:spcAft>
                <a:spcPts val="0"/>
              </a:spcAft>
              <a:buClr>
                <a:schemeClr val="dk1"/>
              </a:buClr>
              <a:buSzPts val="2800"/>
              <a:buFont typeface="Arial"/>
              <a:buChar char="•"/>
            </a:pPr>
            <a:r>
              <a:rPr lang="es-MX" sz="2800">
                <a:solidFill>
                  <a:schemeClr val="dk1"/>
                </a:solidFill>
                <a:latin typeface="Arial"/>
                <a:ea typeface="Arial"/>
                <a:cs typeface="Arial"/>
                <a:sym typeface="Arial"/>
              </a:rPr>
              <a:t>Realizar solicitudes de citas.</a:t>
            </a:r>
            <a:endParaRPr sz="2800">
              <a:solidFill>
                <a:schemeClr val="dk1"/>
              </a:solidFill>
              <a:latin typeface="Arial"/>
              <a:ea typeface="Arial"/>
              <a:cs typeface="Arial"/>
              <a:sym typeface="Arial"/>
            </a:endParaRPr>
          </a:p>
          <a:p>
            <a:pPr marL="285750" marR="0" lvl="0" indent="-285750" algn="l" rtl="0">
              <a:spcBef>
                <a:spcPts val="0"/>
              </a:spcBef>
              <a:spcAft>
                <a:spcPts val="0"/>
              </a:spcAft>
              <a:buClr>
                <a:schemeClr val="dk1"/>
              </a:buClr>
              <a:buSzPts val="2800"/>
              <a:buFont typeface="Arial"/>
              <a:buChar char="•"/>
            </a:pPr>
            <a:r>
              <a:rPr lang="es-MX" sz="2800">
                <a:solidFill>
                  <a:schemeClr val="dk1"/>
                </a:solidFill>
                <a:latin typeface="Arial"/>
                <a:ea typeface="Arial"/>
                <a:cs typeface="Arial"/>
                <a:sym typeface="Arial"/>
              </a:rPr>
              <a:t>Implementar una vía de comunicación entre la empresa y sus clientes, como confirmaciones.</a:t>
            </a:r>
            <a:endParaRPr/>
          </a:p>
          <a:p>
            <a:pPr marL="285750" marR="0" lvl="0" indent="-285750" algn="l" rtl="0">
              <a:spcBef>
                <a:spcPts val="0"/>
              </a:spcBef>
              <a:spcAft>
                <a:spcPts val="0"/>
              </a:spcAft>
              <a:buClr>
                <a:schemeClr val="dk1"/>
              </a:buClr>
              <a:buSzPts val="2800"/>
              <a:buFont typeface="Arial"/>
              <a:buChar char="•"/>
            </a:pPr>
            <a:r>
              <a:rPr lang="es-MX" sz="2800">
                <a:solidFill>
                  <a:schemeClr val="dk1"/>
                </a:solidFill>
                <a:latin typeface="Arial"/>
                <a:ea typeface="Arial"/>
                <a:cs typeface="Arial"/>
                <a:sym typeface="Arial"/>
              </a:rPr>
              <a:t>Recopilar información de usuarios para mejorar la experiencia de uso.</a:t>
            </a:r>
            <a:endParaRPr sz="2400">
              <a:solidFill>
                <a:schemeClr val="dk1"/>
              </a:solidFill>
              <a:latin typeface="Arial"/>
              <a:ea typeface="Arial"/>
              <a:cs typeface="Arial"/>
              <a:sym typeface="Arial"/>
            </a:endParaRPr>
          </a:p>
          <a:p>
            <a:pPr marL="0" marR="0" lvl="0" indent="0" algn="just" rtl="0">
              <a:lnSpc>
                <a:spcPct val="107000"/>
              </a:lnSpc>
              <a:spcBef>
                <a:spcPts val="0"/>
              </a:spcBef>
              <a:spcAft>
                <a:spcPts val="0"/>
              </a:spcAft>
              <a:buNone/>
            </a:pPr>
            <a:endParaRPr sz="2000">
              <a:solidFill>
                <a:schemeClr val="dk1"/>
              </a:solidFill>
              <a:latin typeface="Arial"/>
              <a:ea typeface="Arial"/>
              <a:cs typeface="Arial"/>
              <a:sym typeface="Arial"/>
            </a:endParaRPr>
          </a:p>
        </p:txBody>
      </p:sp>
      <p:sp>
        <p:nvSpPr>
          <p:cNvPr id="160" name="Google Shape;160;p8"/>
          <p:cNvSpPr/>
          <p:nvPr/>
        </p:nvSpPr>
        <p:spPr>
          <a:xfrm rot="10800000" flipH="1">
            <a:off x="1340632" y="1226802"/>
            <a:ext cx="1074156" cy="4571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rgbClr val="92D05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4" name="Google Shape;174;p10" descr="Imagen que contiene Interfaz de usuario gráfica&#10;&#10;Descripción generada automáticamente"/>
          <p:cNvPicPr preferRelativeResize="0"/>
          <p:nvPr/>
        </p:nvPicPr>
        <p:blipFill rotWithShape="1">
          <a:blip r:embed="rId3">
            <a:alphaModFix/>
          </a:blip>
          <a:srcRect/>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349</Words>
  <Application>Microsoft Office PowerPoint</Application>
  <PresentationFormat>Panorámica</PresentationFormat>
  <Paragraphs>44</Paragraphs>
  <Slides>9</Slides>
  <Notes>9</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9</vt:i4>
      </vt:variant>
    </vt:vector>
  </HeadingPairs>
  <TitlesOfParts>
    <vt:vector size="12" baseType="lpstr">
      <vt:lpstr>Arial</vt:lpstr>
      <vt:lpstr>Calibri</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David Roberto</cp:lastModifiedBy>
  <cp:revision>1</cp:revision>
  <dcterms:created xsi:type="dcterms:W3CDTF">2020-10-01T23:51:28Z</dcterms:created>
  <dcterms:modified xsi:type="dcterms:W3CDTF">2025-12-11T02:49:52Z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y fmtid="{D5CDD505-2E9C-101B-9397-08002B2CF9AE}" pid="9" name="ContentTypeId">
    <vt:lpwstr>0x0101006CB8EB48697E0B40AFEBFA795A5F40EE</vt:lpwstr>
  </property>
</Properties>
</file>